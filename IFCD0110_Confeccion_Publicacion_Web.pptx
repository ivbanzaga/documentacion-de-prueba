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11480" cy="6858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0"/>
            <a:ext cx="91440" cy="6858000"/>
          </a:xfrm>
          <a:prstGeom prst="roundRect">
            <a:avLst/>
          </a:prstGeom>
          <a:solidFill>
            <a:srgbClr val="00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2B8"/>
                </a:solidFill>
                <a:latin typeface="Calibri"/>
              </a:defRPr>
            </a:pPr>
            <a:r>
              <a:t>CERTIFICADO DE PROFESIONALIDAD · RD 1531/2011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68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IFCD0110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300"/>
                </a:solidFill>
                <a:latin typeface="Calibri"/>
              </a:defRPr>
            </a:pPr>
            <a:r>
              <a:t>Confección y Publicación</a:t>
            </a:r>
            <a:br/>
            <a:r>
              <a:t>de Páginas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1E8"/>
                </a:solidFill>
                <a:latin typeface="Calibri"/>
              </a:defRPr>
            </a:pPr>
            <a:r>
              <a:t>Familia profesional: Informática y Comunicaciones · Área: Desarrollo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Nivel 2 · 560 horas · 3 unidades de competencia + prácticas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640080"/>
            <a:ext cx="3200400" cy="5486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914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560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4F1E8"/>
                </a:solidFill>
                <a:latin typeface="Calibri"/>
              </a:defRPr>
            </a:pPr>
            <a:r>
              <a:t>HORAS TOTALES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Construir → Integrar → Publicar</a:t>
            </a:r>
            <a:br/>
            <a:r>
              <a:t>+ 80 h prácticas en 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206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4F1E8"/>
                </a:solidFill>
                <a:latin typeface="Calibri"/>
              </a:defRPr>
            </a:pPr>
            <a:r>
              <a:t>Fuente única: BOE / Guía SEPE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02 · DATOS PRINCIPALES DEL CERTIFICADO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IFCD0110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Nivel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Familia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Informática y</a:t>
            </a:r>
            <a:br/>
            <a:r>
              <a:t>Comunicaciones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Área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59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Duración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560 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1280160"/>
            <a:ext cx="1691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80" y="1280160"/>
            <a:ext cx="1691640" cy="1828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28090"/>
                </a:solidFill>
                <a:latin typeface="Calibri"/>
              </a:defRPr>
            </a:pPr>
            <a:r>
              <a:t>Cualificación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19456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IFC297_2</a:t>
            </a:r>
            <a:br/>
            <a:r>
              <a:t>RD 1201/2007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RD 1531/2011, de 31 de octubre · Validez en todo el territorio · Acreditación parcial por módulos y UFs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· COMPETENCIA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1E8"/>
                </a:solidFill>
                <a:latin typeface="Calibri"/>
              </a:defRPr>
            </a:pPr>
            <a:r>
              <a:t>Crear y publicar páginas web que integren textos, imágenes y otros elementos, utilizando lenguajes de marcas y editores apropiados, según especificaciones y condiciones de usabilidad, y realizar su instalación y verificación en el servidor.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F3C"/>
                </a:solidFill>
                <a:latin typeface="Calibri"/>
              </a:defRPr>
            </a:pPr>
            <a:r>
              <a:t>1 CREAR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Textos + imágenes</a:t>
            </a:r>
            <a:br/>
            <a:r>
              <a:t>Marcas y editores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560320"/>
            <a:ext cx="3291840" cy="27432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INTEGRAR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Componentes</a:t>
            </a:r>
            <a:br/>
            <a:r>
              <a:t>software y guión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60320"/>
            <a:ext cx="329184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F3C"/>
                </a:solidFill>
                <a:latin typeface="Calibri"/>
              </a:defRPr>
            </a:pPr>
            <a:r>
              <a:t>3 PUBLICAR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3474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Instalar y verificar</a:t>
            </a:r>
            <a:br/>
            <a:r>
              <a:t>en el servidor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04 · ENTORNO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206240"/>
          </a:xfrm>
          <a:prstGeom prst="round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ÁMBITO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Por cuenta propia o ajena</a:t>
            </a:r>
          </a:p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Empresas públicas o privadas de cualquier tamaño</a:t>
            </a:r>
          </a:p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Con intranet, Internet o extranet</a:t>
            </a:r>
          </a:p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Área de desarrollo del dpto. de informática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120640" cy="420624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300"/>
                </a:solidFill>
                <a:latin typeface="Calibri"/>
              </a:defRPr>
            </a:pPr>
            <a:r>
              <a:t>SECTORES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Sector servicios, principalmente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Desarrollo de software con tecnologías web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Análisis, diseño y construcción de apps para redes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Entidades que usan sistemas informáticos para su gestión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05 · SALIDAS PROFESIONALES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02336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Desarrollador</a:t>
            </a:r>
            <a:br/>
            <a:r>
              <a:t>de páginas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4F1E8"/>
                </a:solidFill>
                <a:latin typeface="Calibri"/>
              </a:defRPr>
            </a:pPr>
            <a:r>
              <a:t>Construye páginas con marcas, CSS, plantillas y formularios.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394960" cy="40233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288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Mantenedor</a:t>
            </a:r>
            <a:br/>
            <a:r>
              <a:t>de páginas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747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4F1E8"/>
                </a:solidFill>
                <a:latin typeface="Calibri"/>
              </a:defRPr>
            </a:pPr>
            <a:r>
              <a:t>Actualiza, verifica y mantiene sitios publicados.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· UNIDADES DE COMPETENCIA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2918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8090"/>
                </a:solidFill>
                <a:latin typeface="Calibri"/>
              </a:defRPr>
            </a:pPr>
            <a:r>
              <a:t>UC0950_2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F3C"/>
                </a:solidFill>
                <a:latin typeface="Calibri"/>
              </a:defRPr>
            </a:pPr>
            <a:r>
              <a:t>Construir</a:t>
            </a:r>
            <a:br/>
            <a:r>
              <a:t>páginas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Estructura HTML, CSS, plantillas.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2918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8090"/>
                </a:solidFill>
                <a:latin typeface="Calibri"/>
              </a:defRPr>
            </a:pPr>
            <a:r>
              <a:t>UC0951_2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F3C"/>
                </a:solidFill>
                <a:latin typeface="Calibri"/>
              </a:defRPr>
            </a:pPr>
            <a:r>
              <a:t>Integrar componentes</a:t>
            </a:r>
            <a:br/>
            <a: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Guión, validación, efectos.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80160"/>
            <a:ext cx="32918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28090"/>
                </a:solidFill>
                <a:latin typeface="Calibri"/>
              </a:defRPr>
            </a:pPr>
            <a:r>
              <a:t>UC0952_2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11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F3C"/>
                </a:solidFill>
                <a:latin typeface="Calibri"/>
              </a:defRPr>
            </a:pPr>
            <a:r>
              <a:t>Publicar</a:t>
            </a:r>
            <a:br/>
            <a:r>
              <a:t>páginas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Transferir, verificar, posicionar.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07 · ESTRUCTURA DE LA FORMACIÓN · 560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606040" cy="3840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300"/>
                </a:solidFill>
                <a:latin typeface="Calibri"/>
              </a:defRPr>
            </a:pPr>
            <a:r>
              <a:t>MF0950_2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Construcción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210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606040" cy="3840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4630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300"/>
                </a:solidFill>
                <a:latin typeface="Calibri"/>
              </a:defRPr>
            </a:pPr>
            <a:r>
              <a:t>MF0951_2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180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606040" cy="38404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300"/>
                </a:solidFill>
                <a:latin typeface="Calibri"/>
              </a:defRPr>
            </a:pPr>
            <a:r>
              <a:t>MF0952_2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Publicación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90 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280160"/>
            <a:ext cx="2606040" cy="384048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4630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300"/>
                </a:solidFill>
                <a:latin typeface="Calibri"/>
              </a:defRPr>
            </a:pPr>
            <a:r>
              <a:t>MP0278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920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Prácticas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74320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80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08 · MF0950_2 CONSTRUCCIÓN · 210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UF1302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Calibri"/>
              </a:defRPr>
            </a:pPr>
            <a:r>
              <a:t>Lenguaje de marcas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F3C"/>
                </a:solidFill>
                <a:latin typeface="Calibri"/>
              </a:defRPr>
            </a:pPr>
            <a:r>
              <a:t>80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UF1303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Calibri"/>
              </a:defRPr>
            </a:pPr>
            <a:r>
              <a:t>Hojas de estilo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F3C"/>
                </a:solidFill>
                <a:latin typeface="Calibri"/>
              </a:defRPr>
            </a:pPr>
            <a:r>
              <a:t>70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8016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UF1304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Calibri"/>
              </a:defRPr>
            </a:pPr>
            <a:r>
              <a:t>Plantillas y formularios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834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F3C"/>
                </a:solidFill>
                <a:latin typeface="Calibri"/>
              </a:defRPr>
            </a:pPr>
            <a:r>
              <a:t>60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UFs correlativas y UAs secuenciales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· MF0951_2 INTEGRACIÓN · 180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UF1305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F3C"/>
                </a:solidFill>
                <a:latin typeface="Calibri"/>
              </a:defRPr>
            </a:pPr>
            <a:r>
              <a:t>Lenguajes de guión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90 h · UA1 30 + UA2 30 + UA3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394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UF1306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F3C"/>
                </a:solidFill>
                <a:latin typeface="Calibri"/>
              </a:defRPr>
            </a:pPr>
            <a:r>
              <a:t>Pruebas y optimización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90 h · Validación + efectos + verificación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C300"/>
                </a:solidFill>
                <a:latin typeface="Calibri"/>
              </a:defRPr>
            </a:pPr>
            <a:r>
              <a:t>Para acceder a UF1306 hay que superar UF1305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10 · MF0952_2 PUBLICACIÓN · 90 H · SIN UF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606040" cy="3657600"/>
          </a:xfrm>
          <a:prstGeom prst="round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Seguridad</a:t>
            </a:r>
            <a:br/>
            <a:r>
              <a:t>15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Características de</a:t>
            </a:r>
            <a:br/>
            <a:r>
              <a:t>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80160"/>
            <a:ext cx="2606040" cy="3657600"/>
          </a:xfrm>
          <a:prstGeom prst="round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630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Transferencia</a:t>
            </a:r>
            <a:br/>
            <a:r>
              <a:t>30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6517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Herramientas de</a:t>
            </a:r>
            <a:br/>
            <a:r>
              <a:t>transferencia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606040" cy="3657600"/>
          </a:xfrm>
          <a:prstGeom prst="round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Verificación</a:t>
            </a:r>
            <a:br/>
            <a:r>
              <a:t>25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Pruebas y</a:t>
            </a:r>
            <a:br/>
            <a:r>
              <a:t>verificación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1280160"/>
            <a:ext cx="2606040" cy="3657600"/>
          </a:xfrm>
          <a:prstGeom prst="roundRect">
            <a:avLst/>
          </a:prstGeom>
          <a:solidFill>
            <a:srgbClr val="E8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46304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F3C"/>
                </a:solidFill>
                <a:latin typeface="Calibri"/>
              </a:defRPr>
            </a:pPr>
            <a:r>
              <a:t>Buscadores</a:t>
            </a:r>
            <a:br/>
            <a:r>
              <a:t>20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265176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6C7D"/>
                </a:solidFill>
                <a:latin typeface="Calibri"/>
              </a:defRPr>
            </a:pPr>
            <a:r>
              <a:t>Funcionalidad</a:t>
            </a:r>
            <a:br/>
            <a:r>
              <a:t>en buscadores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11 · MP0278 PRÁCTICAS NO LABORALES · 80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1F3C"/>
                </a:solidFill>
                <a:latin typeface="Calibri"/>
              </a:defRPr>
            </a:pPr>
            <a:r>
              <a:t>•  Creación y edición de componentes web</a:t>
            </a:r>
          </a:p>
          <a:p>
            <a:pPr>
              <a:spcAft>
                <a:spcPts val="600"/>
              </a:spcAft>
              <a:defRPr sz="1500">
                <a:solidFill>
                  <a:srgbClr val="0F1F3C"/>
                </a:solidFill>
                <a:latin typeface="Calibri"/>
              </a:defRPr>
            </a:pPr>
            <a:r>
              <a:t>•  Integración de componentes software</a:t>
            </a:r>
          </a:p>
          <a:p>
            <a:pPr>
              <a:spcAft>
                <a:spcPts val="600"/>
              </a:spcAft>
              <a:defRPr sz="1500">
                <a:solidFill>
                  <a:srgbClr val="0F1F3C"/>
                </a:solidFill>
                <a:latin typeface="Calibri"/>
              </a:defRPr>
            </a:pPr>
            <a:r>
              <a:t>•  Publicación de páginas web en servidor</a:t>
            </a:r>
          </a:p>
          <a:p>
            <a:pPr>
              <a:spcAft>
                <a:spcPts val="600"/>
              </a:spcAft>
              <a:defRPr sz="1500">
                <a:solidFill>
                  <a:srgbClr val="0F1F3C"/>
                </a:solidFill>
                <a:latin typeface="Calibri"/>
              </a:defRPr>
            </a:pPr>
            <a:r>
              <a:t>•  Participación en procesos de trabajo reales</a:t>
            </a:r>
          </a:p>
          <a:p>
            <a:pPr>
              <a:spcAft>
                <a:spcPts val="600"/>
              </a:spcAft>
              <a:defRPr sz="1500">
                <a:solidFill>
                  <a:srgbClr val="0F1F3C"/>
                </a:solidFill>
                <a:latin typeface="Calibri"/>
              </a:defRPr>
            </a:pPr>
            <a:r>
              <a:t>•  Normas de seguridad, calidad y medio ambiente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5120640" cy="402336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Completa las competencias no adquiridas en el centro y facilita la transferencia al entorno productivo, con tutor de formación y de empresa.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300"/>
                </a:solidFill>
                <a:latin typeface="Calibri"/>
              </a:defRPr>
            </a:pPr>
            <a:r>
              <a:t>Eximible con experiencia acreditada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· COMPETENCIAS TÉCNICAS ADQUIRIDAS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Lenguajes</a:t>
            </a:r>
            <a:br/>
            <a:r>
              <a:t>de marcas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1280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19" y="1554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HTML y</a:t>
            </a:r>
            <a:br/>
            <a:r>
              <a:t>estructura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CSS y</a:t>
            </a:r>
            <a:br/>
            <a:r>
              <a:t>estilos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59" y="1280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39" y="1554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Plantillas y</a:t>
            </a:r>
            <a:br/>
            <a:r>
              <a:t>formularios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Lenguajes</a:t>
            </a:r>
            <a:br/>
            <a:r>
              <a:t>de guión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3566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19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Integración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Pruebas y</a:t>
            </a:r>
            <a:br/>
            <a:r>
              <a:t>optimización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3566160"/>
            <a:ext cx="2651760" cy="18288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9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Publicación</a:t>
            </a:r>
            <a:br/>
            <a:r>
              <a:t>web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13 · SECUENCIA FORMATIVA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468880" cy="32918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Construcción</a:t>
            </a:r>
            <a:br/>
            <a:r>
              <a:t>210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32918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Integración</a:t>
            </a:r>
            <a:br/>
            <a:r>
              <a:t>180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468880" cy="32918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Publicación</a:t>
            </a:r>
            <a:br/>
            <a:r>
              <a:t>90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468880" cy="329184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3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Prácticas</a:t>
            </a:r>
            <a:br/>
            <a:r>
              <a:t>80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F3C"/>
                </a:solidFill>
                <a:latin typeface="Calibri"/>
              </a:defRPr>
            </a:pPr>
            <a:r>
              <a:t>14 · REQUISITOS Y MEDIOS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FORMADORES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Perfil según RD 1531/2011 y normativa</a:t>
            </a:r>
          </a:p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Experiencia profesional acreditada en desarrollo web</a:t>
            </a:r>
          </a:p>
          <a:p>
            <a:pPr>
              <a:spcAft>
                <a:spcPts val="600"/>
              </a:spcAft>
              <a:defRPr sz="1400">
                <a:solidFill>
                  <a:srgbClr val="0F1F3C"/>
                </a:solidFill>
                <a:latin typeface="Calibri"/>
              </a:defRPr>
            </a:pPr>
            <a:r>
              <a:t>•  Evaluación por módulos con actas APTO / NO APTO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120640" cy="4206240"/>
          </a:xfrm>
          <a:prstGeom prst="round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300"/>
                </a:solidFill>
                <a:latin typeface="Calibri"/>
              </a:defRPr>
            </a:pPr>
            <a:r>
              <a:t>ESPACIOS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Aula de informática equipada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Editores, navegadores y herramientas web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Servidores para publicación y verificación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972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· RESUMEN FINAL · IFCD0110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  <a:latin typeface="Calibri"/>
              </a:defRPr>
            </a:pPr>
            <a:r>
              <a:t>NIVEL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Cualificación</a:t>
            </a:r>
            <a:br/>
            <a:r>
              <a:t>IFC297_2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  <a:latin typeface="Calibri"/>
              </a:defRPr>
            </a:pPr>
            <a:r>
              <a:t>560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210 + 180</a:t>
            </a:r>
            <a:br/>
            <a:r>
              <a:t>+ 90 + 80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  <a:latin typeface="Calibri"/>
              </a:defRPr>
            </a:pPr>
            <a:r>
              <a:t>3 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Construir</a:t>
            </a:r>
            <a:br/>
            <a:r>
              <a:t>Integrar</a:t>
            </a:r>
            <a:br/>
            <a:r>
              <a:t>Publicar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645920"/>
            <a:ext cx="26060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8288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090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4688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F3C"/>
                </a:solidFill>
                <a:latin typeface="Calibri"/>
              </a:defRPr>
            </a:pPr>
            <a:r>
              <a:t>Desarrollo y</a:t>
            </a:r>
            <a:br/>
            <a:r>
              <a:t>mantenimiento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C300"/>
                </a:solidFill>
                <a:latin typeface="Calibri"/>
              </a:defRPr>
            </a:pPr>
            <a:r>
              <a:t>Formación + prácticas · Desarrollo y mantenimiento de páginas web · RD 1531/2011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